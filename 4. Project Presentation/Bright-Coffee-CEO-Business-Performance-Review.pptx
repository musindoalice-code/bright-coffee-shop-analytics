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47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443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Bright Coffee: CEO Business Performance Review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90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growth, customer behaviour and commercial opportunities — H1 2024 Analysis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426545"/>
            <a:ext cx="172596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6765" y="4483199"/>
            <a:ext cx="21087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053781" y="4426545"/>
            <a:ext cx="7915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67185" y="4483199"/>
            <a:ext cx="11743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2024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54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60177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 Coffee has delivered exceptional first-half performance — revenue nearly doubled from January to June, driven by broad-based category growth and consistent demand across all three locations.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32474" y="1847453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$698K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2465784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750939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33223" y="1847453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149K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162223" y="2465784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62223" y="2750939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2474" y="3232845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214K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61475" y="3851176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1475" y="4136330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2024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33223" y="3232845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$4.69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6162223" y="3851176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Avg. Transaction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62223" y="4136330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visit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54327"/>
            <a:ext cx="3552042" cy="120828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8403" y="4615061"/>
            <a:ext cx="3154383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103.8% Revenue Growth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98403" y="4906566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more than doubled from January to June — a remarkable growth trajectory across all categories and stores.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9777" y="4454327"/>
            <a:ext cx="3552042" cy="120828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56706" y="4615061"/>
            <a:ext cx="3154383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☕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Coffee + Tea = Core Engine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556706" y="4906566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Coffee and Tea together account for over 69% of total revenue, anchoring the business and driving consistent volume.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8079" y="4454327"/>
            <a:ext cx="3552042" cy="120828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15008" y="4615061"/>
            <a:ext cx="3154383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Hell's Kitchen Leads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215008" y="4906566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$236,511, Hell's Kitchen is the highest-performing location — a proven operational blueprint for the wider estate.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61475" y="5782171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DADBF1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5939532"/>
            <a:ext cx="177200" cy="1416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22037" y="5923855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Bright Coffee is growing strongly — the opportunity now is to scale what is working and optimise operations to sustain momentum profitably.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3241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Performance: A Strong Foundation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659037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71966" y="1797645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$698,812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71966" y="2059880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H1 Revenue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233360" y="2471043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1966" y="2609652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149,116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71966" y="2871887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3360" y="3283049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71966" y="342165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214,470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71966" y="3683893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3360" y="4095055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1966" y="4233664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$4.69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71966" y="4495899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Transaction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33360" y="4918670"/>
            <a:ext cx="62968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generated strong transaction volumes at a consistent average transaction value of $4.69, indicating reliable, repeatable purchasing behaviour rather than one-off spikes. Every metric is moving in the right direction.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3360" y="5562798"/>
            <a:ext cx="6296860" cy="601960"/>
          </a:xfrm>
          <a:prstGeom prst="roundRect">
            <a:avLst>
              <a:gd name="adj" fmla="val 9232"/>
            </a:avLst>
          </a:prstGeom>
          <a:solidFill>
            <a:srgbClr val="DADBF1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616" y="5699621"/>
            <a:ext cx="165294" cy="1322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3165" y="5688409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transaction frequency at a healthy average value confirms customer loyalty — the next lever is increasing the average basket size through cross-sell.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Growth: January to June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43918"/>
            <a:ext cx="4134739" cy="2973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3763" y="1329234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103.8% Growth in Six Months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83763" y="1678880"/>
            <a:ext cx="5252807" cy="1169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climbed from </a:t>
            </a: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$81,677 in January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$166,486 in June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more than doubling in a single half-year period.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was not a one-month spike. The trajectory is consistent month-on-month, reflecting genuine operational momentum and increasing customer demand rather than a seasonal anomaly.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4581029"/>
            <a:ext cx="5375736" cy="851297"/>
          </a:xfrm>
          <a:prstGeom prst="roundRect">
            <a:avLst>
              <a:gd name="adj" fmla="val 734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9349" y="4748907"/>
            <a:ext cx="503998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Jan → Jun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9349" y="5051623"/>
            <a:ext cx="5039988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+$84,809 absolute gain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54385" y="4581029"/>
            <a:ext cx="5375835" cy="851297"/>
          </a:xfrm>
          <a:prstGeom prst="roundRect">
            <a:avLst>
              <a:gd name="adj" fmla="val 734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2259" y="4748907"/>
            <a:ext cx="50400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+103.8%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22259" y="5051623"/>
            <a:ext cx="5040087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 growth rate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5564188"/>
            <a:ext cx="10868745" cy="722709"/>
          </a:xfrm>
          <a:prstGeom prst="roundRect">
            <a:avLst>
              <a:gd name="adj" fmla="val 8650"/>
            </a:avLst>
          </a:prstGeom>
          <a:solidFill>
            <a:srgbClr val="DADB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9" y="5734348"/>
            <a:ext cx="186031" cy="1488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5154" y="5718572"/>
            <a:ext cx="10236242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kern="0" spc="-2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150" kern="0" spc="-2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consistent month-on-month growth curve signals compounding demand — this is a business building real momentum, not chasing one-off peaks.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18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Performance: Where Revenue is Won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40061"/>
            <a:ext cx="4199924" cy="3023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6640" y="1424980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Coffee + Tea: The Revenue Engine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86640" y="1782167"/>
            <a:ext cx="5249930" cy="97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Coffee alone contributes </a:t>
            </a: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$275,513</a:t>
            </a: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39% of total revenue. Combined with Tea ($207,620), these two categories account for </a:t>
            </a: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 69%</a:t>
            </a: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all revenue.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Chocolate, Other, and Food form a meaningful secondary tier, collectively contributing $215,680 — significant upside if cross-sell rates improve.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86640" y="2897783"/>
            <a:ext cx="5249930" cy="2297113"/>
          </a:xfrm>
          <a:prstGeom prst="roundRect">
            <a:avLst>
              <a:gd name="adj" fmla="val 27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86640" y="3282752"/>
            <a:ext cx="5249930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286640" y="3664545"/>
            <a:ext cx="5249930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286640" y="4046339"/>
            <a:ext cx="5249930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286640" y="4428133"/>
            <a:ext cx="5249930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286640" y="4809927"/>
            <a:ext cx="5249930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44890" y="2983012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190204" y="2983012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935517" y="2983012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44890" y="3364805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Coffee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190204" y="3364805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$275,513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935517" y="3364805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89,569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44890" y="3746599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190204" y="3746599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$207,620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935517" y="3746599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70,947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444890" y="4128393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Chocolate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190204" y="4128393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$76,824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935517" y="4128393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17,944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44890" y="4510187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190204" y="4510187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$76,334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935517" y="4510187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18,584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44890" y="4891980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190204" y="4891980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$62,522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935517" y="4891980"/>
            <a:ext cx="205248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17,426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61475" y="5466953"/>
            <a:ext cx="10868745" cy="740767"/>
          </a:xfrm>
          <a:prstGeom prst="roundRect">
            <a:avLst>
              <a:gd name="adj" fmla="val 8574"/>
            </a:avLst>
          </a:prstGeom>
          <a:solidFill>
            <a:srgbClr val="DADBF1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5639395"/>
            <a:ext cx="189007" cy="151209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152893" y="5625703"/>
            <a:ext cx="102261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150" kern="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Coffee and Tea anchor the business — but Food and Chocolate represent high-margin attach opportunities with every core beverage transaction.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82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Growth: Broad-Based Momentum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1440"/>
            <a:ext cx="7064595" cy="3957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48970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category grew significantly from January to June. Coffee surged from $32,063 to $66,019 (+106%); Tea from $23,916 to $49,014 (+105%); Food from $7,225 to $14,588 (+102%). Growth is not concentrated — it is broad-based and structural.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5663009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5" y="5780187"/>
            <a:ext cx="153488" cy="122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0622" y="5773440"/>
            <a:ext cx="1034676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Broad-based category growth confirms the business model is sound — all product lines are scaling, which reduces concentration risk and supports sustainable expansion.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82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Mix: Category Distribution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1440"/>
            <a:ext cx="7064595" cy="3957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48970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This pie chart clearly illustrates the dominance of our core beverage offerings.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Coffee (39%)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 (30%)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collectively represent 69% of Bright Coffee's total H1 revenue, cementing their position as the primary drivers of our sales.     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5663009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5" y="5780187"/>
            <a:ext cx="153488" cy="122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0622" y="5773440"/>
            <a:ext cx="1034676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strong performance of Coffee and Tea validates our core offering — focus should now be on strategic upsells and increasing attachment rates for higher-margin categories like Food and Chocolate to diversify and grow.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02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Revenue Comparison: Three-Location Analysis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3646"/>
            <a:ext cx="7067472" cy="37992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962723"/>
            <a:ext cx="10868745" cy="738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700"/>
              </a:spcAft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revenue distribution across our three prime locations demonstrates remarkable parity. With Hell's Kitchen leading slightly at $236,511, followed closely by Astoria and Lower Manhattan, this indicates a consistent customer demand and operational efficiency across the estate.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even performance suggests that our growth strategies and product offerings resonate uniformly, providing a robust foundation for future expansion without significant geographical discrepancies.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5790803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5" y="5907980"/>
            <a:ext cx="153488" cy="122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0622" y="5901234"/>
            <a:ext cx="1034676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r>
              <a:rPr 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nearly identical revenue performance across all three stores is a powerful validation of our business model's replicability and scalability — we have a proven blueprint for success.       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058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Growth Trajectory: Revenue Acceleration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69677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 Coffee's revenue exhibited a remarkable and consistent upward trend throughout the first half of 2024, demonstrating robust market penetration and increasing customer loyalty.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21594"/>
            <a:ext cx="10099819" cy="33154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726880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surged from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$81,677 in January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an impressive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$166,486 in June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signifying a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103.8% growth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 the six-month period. This consistent acceleration month-over-month underscores a powerful, sustained momentum across the business, rather than isolated spikes.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5128220"/>
            <a:ext cx="5397167" cy="5894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9704" y="5140920"/>
            <a:ext cx="52362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Consistent Upward Trend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09704" y="5380732"/>
            <a:ext cx="523623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month demonstrated an increase, reinforcing the strength and stability of the underlying business model.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3054" y="5128220"/>
            <a:ext cx="5397167" cy="5894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3982" y="5140920"/>
            <a:ext cx="52362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Clear Acceleration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93982" y="5380732"/>
            <a:ext cx="523623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steepening curve towards June highlights growing operational efficiency and expanding market demand.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61475" y="5794772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DADBF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05" y="5911949"/>
            <a:ext cx="153488" cy="1228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0622" y="5905202"/>
            <a:ext cx="1034676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sustained revenue acceleration is a strong indicator of market fit and effective execution. Our focus must now be on leveraging this momentum to capture even greater market share and scale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81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Peak Hours Analysis: Where Revenue Concentrates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75432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hourly revenue distribution is key to optimizing staffing, inventory, and marketing efforts. The data reveals clear peaks and troughs throughout the day.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27348"/>
            <a:ext cx="7064595" cy="39577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5374878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chart clearly shows a dominant morning window, with revenue peaking at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$88,673 at 10:00 AM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period from 09:00 to 11:00 AM accounts for the vast majority of daily sales, indicating robust customer traffic during these hours.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61475" y="5788918"/>
            <a:ext cx="10868745" cy="537170"/>
          </a:xfrm>
          <a:prstGeom prst="roundRect">
            <a:avLst>
              <a:gd name="adj" fmla="val 9606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5" y="5906095"/>
            <a:ext cx="153488" cy="122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0622" y="5899348"/>
            <a:ext cx="10346768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pronounced morning peak highlights a critical opportunity for tailored promotions and optimized staffing. Maximizing efficiency during these hours is paramount for overall revenue growth.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96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Performance: Hell's Kitchen Leads the Way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5391"/>
            <a:ext cx="4452628" cy="3205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368326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Hell's Kitchen: The Benchmark Location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98149" y="1755874"/>
            <a:ext cx="5238421" cy="226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$236,511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Hell's Kitchen edges ahead as the top-performing store. Notably, all three locations are within 3% of each other in total revenue — a sign of consistent operational delivery across the estate.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Hell's Kitchen demonstrates particularly strong morning trading (8:00–10:00), suggesting effective staffing and product availability during peak demand. Lower Manhattan mirrors this morning concentration. Astoria shows a broader afternoon and evening trading pattern, pointing to a distinct customer base and opportunity for tailored scheduling.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98149" y="4171851"/>
            <a:ext cx="5238421" cy="1039019"/>
          </a:xfrm>
          <a:prstGeom prst="roundRect">
            <a:avLst>
              <a:gd name="adj" fmla="val 6495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1" y="4385667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0225" y="4334768"/>
            <a:ext cx="455571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Lesson: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Hell's Kitchen's morning execution playbook can be replicated systematically across Lower Manhattan and Astoria.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61475" y="5518051"/>
            <a:ext cx="10868745" cy="814983"/>
          </a:xfrm>
          <a:prstGeom prst="roundRect">
            <a:avLst>
              <a:gd name="adj" fmla="val 8280"/>
            </a:avLst>
          </a:prstGeom>
          <a:solidFill>
            <a:srgbClr val="DADBF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712817"/>
            <a:ext cx="200814" cy="1606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3551" y="5694660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Remarkable revenue parity across stores confirms scalable operations — codify Hell's Kitchen's morning model as the estate-wide standard.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89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7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Customers Buy: Time-of-Day Intelligence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5421"/>
            <a:ext cx="3534381" cy="25983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178" y="1305421"/>
            <a:ext cx="3847706" cy="17396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91562" y="2669679"/>
            <a:ext cx="858258" cy="10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2PM-4PM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7191562" y="2807481"/>
            <a:ext cx="1308366" cy="72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underutilised; weak sales</a:t>
            </a:r>
            <a:endParaRPr lang="en-US" sz="500" dirty="0"/>
          </a:p>
        </p:txBody>
      </p:sp>
      <p:sp>
        <p:nvSpPr>
          <p:cNvPr id="7" name="Text 3"/>
          <p:cNvSpPr/>
          <p:nvPr/>
        </p:nvSpPr>
        <p:spPr>
          <a:xfrm>
            <a:off x="7191562" y="2253890"/>
            <a:ext cx="858258" cy="10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10:30 AM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191562" y="2391692"/>
            <a:ext cx="1308366" cy="72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30-minute slot — $44,967</a:t>
            </a:r>
            <a:endParaRPr lang="en-US" sz="500" dirty="0"/>
          </a:p>
        </p:txBody>
      </p:sp>
      <p:sp>
        <p:nvSpPr>
          <p:cNvPr id="9" name="Text 5"/>
          <p:cNvSpPr/>
          <p:nvPr/>
        </p:nvSpPr>
        <p:spPr>
          <a:xfrm>
            <a:off x="7191562" y="1838102"/>
            <a:ext cx="858258" cy="10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10:00 AM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7191562" y="1975903"/>
            <a:ext cx="1308366" cy="72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hour — $88,673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7191562" y="1422313"/>
            <a:ext cx="858258" cy="107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9:00 AM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7191562" y="1560115"/>
            <a:ext cx="1308366" cy="72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revenue; coffee &amp; tea dominant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6039691" y="3149203"/>
            <a:ext cx="549678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vast majority of daily revenue is generated between 8:00 and 11:00. This is not a soft trend — it is a structural concentration that has direct implications for how the business should be run.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9691" y="3793331"/>
            <a:ext cx="2702056" cy="936427"/>
          </a:xfrm>
          <a:prstGeom prst="roundRect">
            <a:avLst>
              <a:gd name="adj" fmla="val 59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78296" y="3931940"/>
            <a:ext cx="242484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Staffing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78296" y="4231184"/>
            <a:ext cx="242484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Front-load rotas to the 8–11 window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834316" y="3793331"/>
            <a:ext cx="2702155" cy="936427"/>
          </a:xfrm>
          <a:prstGeom prst="roundRect">
            <a:avLst>
              <a:gd name="adj" fmla="val 59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972921" y="3931940"/>
            <a:ext cx="24249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972921" y="4231184"/>
            <a:ext cx="2424945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peak-hour stock is fully available before 8:00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39691" y="4822329"/>
            <a:ext cx="5496780" cy="756444"/>
          </a:xfrm>
          <a:prstGeom prst="roundRect">
            <a:avLst>
              <a:gd name="adj" fmla="val 734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78296" y="4960938"/>
            <a:ext cx="521956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178296" y="5260181"/>
            <a:ext cx="521956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throughput capacity at the critical 10:00–10:30 peak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61475" y="5787132"/>
            <a:ext cx="10868745" cy="421977"/>
          </a:xfrm>
          <a:prstGeom prst="roundRect">
            <a:avLst>
              <a:gd name="adj" fmla="val 13169"/>
            </a:avLst>
          </a:prstGeom>
          <a:solidFill>
            <a:srgbClr val="DADBF1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30" y="5923955"/>
            <a:ext cx="165294" cy="13225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1280" y="5912743"/>
            <a:ext cx="1091627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kern="0" spc="-2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000" kern="0" spc="-2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 the morning and you win the day — operational excellence in the 8:00–11:00 window is the single highest-leverage improvement available.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933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Opportunities &amp; 30/60/90-Day Plan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3705"/>
            <a:ext cx="3622882" cy="6048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680" y="2109490"/>
            <a:ext cx="332047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 Days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12680" y="2418259"/>
            <a:ext cx="3320471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Protect Peak Hours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staffing rotas and inventory processes for the 8:00–11:00 window at all three stores. Zero tolerance for stock-outs during peak demand.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383705"/>
            <a:ext cx="3622882" cy="6048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5562" y="2109490"/>
            <a:ext cx="332047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 Days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435562" y="2418259"/>
            <a:ext cx="3320471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Cross-Sell &amp; Attach Rate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structured prompts to pair Food and Chocolate with every Coffee and Tea transaction. Target uplift in average transaction value from $4.69.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383705"/>
            <a:ext cx="3622882" cy="6048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8444" y="2109490"/>
            <a:ext cx="332047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 Days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58444" y="2418259"/>
            <a:ext cx="3320471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Playbook Rollout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Hell's Kitchen's morning model and deploy systematically to Lower Manhattan and Astoria. Review Astoria's afternoon pattern for targeted scheduling.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61475" y="3914874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Data-Backed Findings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61475" y="4272062"/>
            <a:ext cx="5249930" cy="997545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 is the single highest-revenue hour at $88,673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Coffee + Tea represent 69%+ of all revenue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categories grew 100%+ in H1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Hell's Kitchen leads on morning throughput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286640" y="3914874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286640" y="4272062"/>
            <a:ext cx="5249930" cy="997545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marketing and promotions on Coffee and Tea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Food and Chocolate as structured attach products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weaker afternoon trading for efficiency savings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Standardise peak-hour operational protocols estate-wide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61475" y="5447903"/>
            <a:ext cx="10868745" cy="740767"/>
          </a:xfrm>
          <a:prstGeom prst="roundRect">
            <a:avLst>
              <a:gd name="adj" fmla="val 8574"/>
            </a:avLst>
          </a:prstGeom>
          <a:solidFill>
            <a:srgbClr val="DADBF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680" y="5620345"/>
            <a:ext cx="189007" cy="15120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2893" y="5606653"/>
            <a:ext cx="102261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0" spc="-2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150" kern="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data is clear — optimise the morning, grow the basket, and replicate the best-performing store model. Three actions, measurable outcomes.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48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Decisions Required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7358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clear approvals will unlock the next phase of Bright Coffee's growth: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4903"/>
            <a:ext cx="3531901" cy="258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06877" y="1871166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1156" y="2402483"/>
            <a:ext cx="317253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Peak-Hour Operational Optimisation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156" y="2986385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Mandate estate-wide staffing and inventory protocols focused on the 8:00–11:00 revenue window. Assign ownership and set a 30-day review milestone.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897" y="1764903"/>
            <a:ext cx="3531901" cy="2589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5300" y="1871166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09578" y="2402483"/>
            <a:ext cx="317253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Category Cross-Sell Initiative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09578" y="2986385"/>
            <a:ext cx="3172539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Greenlight a structured attach-rate programme pairing Food and Chocolate with core Coffee and Tea transactions — targeting measurable uplift in average transaction value.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8319" y="1764903"/>
            <a:ext cx="3531901" cy="25898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3722" y="1871166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kern="0" spc="-5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178000" y="2402483"/>
            <a:ext cx="3172539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Store-Level Playbook Rollout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178000" y="2986385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 a best-practice playbook based on Hell's Kitchen's proven patterns and deploy systematically across Lower Manhattan and Astoria within 90 days.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902471" y="4661892"/>
            <a:ext cx="1062774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 Coffee has the growth trajectory, the customer demand, and the operational foundation to scale significantly. The priority is now to sustain this growth profitably — though it should be noted that </a:t>
            </a:r>
            <a:r>
              <a:rPr lang="en-US" sz="1250" i="1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 and profitability data were not available in the dataset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must be incorporated into the next phase of analysis before confirming unit economics.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61475" y="4508302"/>
            <a:ext cx="19050" cy="1020366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18" name="Shape 13"/>
          <p:cNvSpPr/>
          <p:nvPr/>
        </p:nvSpPr>
        <p:spPr>
          <a:xfrm>
            <a:off x="661475" y="5682258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ADBF1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877024"/>
            <a:ext cx="200814" cy="160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3551" y="5858867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CEO Takeaway: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business is performing. These three decisions convert momentum into durable, scalable success.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1651</Words>
  <Application>Microsoft Office PowerPoint</Application>
  <PresentationFormat>Widescreen</PresentationFormat>
  <Paragraphs>161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Inter Bold</vt:lpstr>
      <vt:lpstr>Arial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Treasury National Office</dc:creator>
  <cp:lastModifiedBy>Treasury National Office</cp:lastModifiedBy>
  <cp:revision>1</cp:revision>
  <dcterms:created xsi:type="dcterms:W3CDTF">2026-08-22T21:45:01Z</dcterms:created>
  <dcterms:modified xsi:type="dcterms:W3CDTF">2026-08-22T21:45:37Z</dcterms:modified>
</cp:coreProperties>
</file>